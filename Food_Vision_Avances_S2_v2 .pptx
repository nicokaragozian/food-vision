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501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5336"/>
            <a:ext cx="292608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MIA304 · VISIÓN Y PERCEPCIÓN COMPUTARIZADA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936693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Vision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0040" y="1972005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8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de la 2.ᵃ etapa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38404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Nico · Benja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00" dirty="0"/>
          </a:p>
          <a:p>
            <a:pPr marL="0" indent="0">
              <a:buNone/>
            </a:pPr>
            <a:r>
              <a:rPr lang="en-US" sz="900" kern="0" spc="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Clase 8 · 02/05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822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una foto de comida → categoría + estimación nutricional.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83280" y="1645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objetivo: imagen → clasificador → calorías y macros (proteínas, carbohidratos, grasas) por porción.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606040"/>
            <a:ext cx="5486400" cy="1965960"/>
          </a:xfrm>
          <a:prstGeom prst="rect">
            <a:avLst/>
          </a:prstGeom>
          <a:solidFill>
            <a:srgbClr val="E7E0D0"/>
          </a:solidFill>
          <a:ln w="9525">
            <a:solidFill>
              <a:srgbClr val="D4CCB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1" name="Shape 9"/>
          <p:cNvSpPr/>
          <p:nvPr/>
        </p:nvSpPr>
        <p:spPr>
          <a:xfrm>
            <a:off x="3383280" y="2606040"/>
            <a:ext cx="73152" cy="1965960"/>
          </a:xfrm>
          <a:prstGeom prst="rect">
            <a:avLst/>
          </a:prstGeom>
          <a:solidFill>
            <a:srgbClr val="C75D3F"/>
          </a:solidFill>
          <a:ln w="12700">
            <a:solidFill>
              <a:srgbClr val="C75D3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2" name="Text 10"/>
          <p:cNvSpPr/>
          <p:nvPr/>
        </p:nvSpPr>
        <p:spPr>
          <a:xfrm>
            <a:off x="3611880" y="2697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· Food-101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29718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Bossard et al., ECCV 2014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11880" y="3291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5D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11880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19472" y="3291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5D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75 750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19472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train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27064" y="3291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5D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25 250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27064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test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34656" y="3291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5D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750/250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34656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por clase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11880" y="4160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típica ~512×512 px · normalizada a 224×224 (ImageNet)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Y PRIMER ENTRENAMIENTO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69480" y="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EfficientNet-B0 · Transfer learning head-only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EfficientNet-B0? 4.1 M params vs 25.6 M (ResNet50) · mejor ratio accuracy/cómputo · ideal para entrenar en hardware local (Apple Silicon MPS)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023360" cy="594360"/>
          </a:xfrm>
          <a:prstGeom prst="rect">
            <a:avLst/>
          </a:prstGeom>
          <a:solidFill>
            <a:srgbClr val="E7E0D0"/>
          </a:solidFill>
          <a:ln w="6350">
            <a:solidFill>
              <a:srgbClr val="D4CCB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8" name="Text 6"/>
          <p:cNvSpPr/>
          <p:nvPr/>
        </p:nvSpPr>
        <p:spPr>
          <a:xfrm>
            <a:off x="530352" y="15910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224×224×3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8836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ImageNet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0" y="214884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5D3F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67712"/>
            <a:ext cx="4023360" cy="594360"/>
          </a:xfrm>
          <a:prstGeom prst="rect">
            <a:avLst/>
          </a:prstGeom>
          <a:solidFill>
            <a:srgbClr val="E7E0D0"/>
          </a:solidFill>
          <a:ln w="6350">
            <a:solidFill>
              <a:srgbClr val="D4CCB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2" name="Text 10"/>
          <p:cNvSpPr/>
          <p:nvPr/>
        </p:nvSpPr>
        <p:spPr>
          <a:xfrm>
            <a:off x="530352" y="2304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 (congelado)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5968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1280-dim avgpool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286207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5D3F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80944"/>
            <a:ext cx="4023360" cy="594360"/>
          </a:xfrm>
          <a:prstGeom prst="rect">
            <a:avLst/>
          </a:prstGeom>
          <a:solidFill>
            <a:srgbClr val="C75D3F"/>
          </a:solidFill>
          <a:ln w="6350">
            <a:solidFill>
              <a:srgbClr val="D4CCB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6" name="Text 14"/>
          <p:cNvSpPr/>
          <p:nvPr/>
        </p:nvSpPr>
        <p:spPr>
          <a:xfrm>
            <a:off x="530352" y="3017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Dropout(0.3) → Linear(1280→101)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3101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8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parte entrenada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3575304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5D3F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4023360" cy="594360"/>
          </a:xfrm>
          <a:prstGeom prst="rect">
            <a:avLst/>
          </a:prstGeom>
          <a:solidFill>
            <a:srgbClr val="E7E0D0"/>
          </a:solidFill>
          <a:ln w="6350">
            <a:solidFill>
              <a:srgbClr val="D4CCB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0" name="Text 18"/>
          <p:cNvSpPr/>
          <p:nvPr/>
        </p:nvSpPr>
        <p:spPr>
          <a:xfrm>
            <a:off x="530352" y="3730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predicciones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40233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sobre 101 clases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874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· lr 1e-3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148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+ label smoothing 0.1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2423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2697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697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2971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2971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· MPS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3246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entrenables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129 829 (3 % del total)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657600"/>
            <a:ext cx="402336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6" name="Text 34"/>
          <p:cNvSpPr/>
          <p:nvPr/>
        </p:nvSpPr>
        <p:spPr>
          <a:xfrm>
            <a:off x="4892040" y="3703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BASELINE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39319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56.3 %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4892040" y="44348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val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46520" y="39319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80.8 %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6446520" y="44348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val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 · weights/baseline.pt · 5 épocas en MPS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PESADO · FINE-TUNING DIFERENCIAL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69480" y="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FINE-TUNING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Descongelado de los últimos 3 bloques + cabeza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arranca desde baseline.pt · LR diferenciales · AdamW · CosineAnnealingLR · 25 épocas</a:t>
            </a:r>
            <a:endParaRPr lang="en-US" sz="1100" dirty="0"/>
          </a:p>
        </p:txBody>
      </p:sp>
      <p:pic>
        <p:nvPicPr>
          <p:cNvPr id="7" name="Image 0" descr="/sessions/fervent-exciting-faraday/mnt/outputs/imgs/03_finetuning_c11_o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08760"/>
            <a:ext cx="5120640" cy="1783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331012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de pérdida y accuracy — Notebook 03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23560" y="1508760"/>
            <a:ext cx="1600200" cy="868680"/>
          </a:xfrm>
          <a:prstGeom prst="rect">
            <a:avLst/>
          </a:prstGeom>
          <a:solidFill>
            <a:srgbClr val="E7E0D0"/>
          </a:solidFill>
          <a:ln w="6350">
            <a:solidFill>
              <a:srgbClr val="D4CCB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0" name="Shape 7"/>
          <p:cNvSpPr/>
          <p:nvPr/>
        </p:nvSpPr>
        <p:spPr>
          <a:xfrm>
            <a:off x="5623560" y="1508760"/>
            <a:ext cx="54864" cy="868680"/>
          </a:xfrm>
          <a:prstGeom prst="rect">
            <a:avLst/>
          </a:prstGeom>
          <a:solidFill>
            <a:srgbClr val="C75D3F"/>
          </a:solidFill>
          <a:ln w="12700">
            <a:solidFill>
              <a:srgbClr val="C75D3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1" name="Text 8"/>
          <p:cNvSpPr/>
          <p:nvPr/>
        </p:nvSpPr>
        <p:spPr>
          <a:xfrm>
            <a:off x="5760720" y="1572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descongelar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60720" y="181965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primeras capas ya capturan bordes/texturas; las últimas se especializan en comida.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315200" y="1508760"/>
            <a:ext cx="1600200" cy="868680"/>
          </a:xfrm>
          <a:prstGeom prst="rect">
            <a:avLst/>
          </a:prstGeom>
          <a:solidFill>
            <a:srgbClr val="E7E0D0"/>
          </a:solidFill>
          <a:ln w="6350">
            <a:solidFill>
              <a:srgbClr val="D4CCB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4" name="Shape 11"/>
          <p:cNvSpPr/>
          <p:nvPr/>
        </p:nvSpPr>
        <p:spPr>
          <a:xfrm>
            <a:off x="7315200" y="1508760"/>
            <a:ext cx="54864" cy="868680"/>
          </a:xfrm>
          <a:prstGeom prst="rect">
            <a:avLst/>
          </a:prstGeom>
          <a:solidFill>
            <a:srgbClr val="C75D3F"/>
          </a:solidFill>
          <a:ln w="12700">
            <a:solidFill>
              <a:srgbClr val="C75D3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5" name="Text 12"/>
          <p:cNvSpPr/>
          <p:nvPr/>
        </p:nvSpPr>
        <p:spPr>
          <a:xfrm>
            <a:off x="7452360" y="1572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LR distintos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52360" y="181965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1e-4 (preserva representaciones de ImageNet) · cabeza 1e-3 (continúa desde baseline.pt, ya orientada al problema).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623560" y="2468880"/>
            <a:ext cx="1600200" cy="868680"/>
          </a:xfrm>
          <a:prstGeom prst="rect">
            <a:avLst/>
          </a:prstGeom>
          <a:solidFill>
            <a:srgbClr val="E7E0D0"/>
          </a:solidFill>
          <a:ln w="6350">
            <a:solidFill>
              <a:srgbClr val="D4CCB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8" name="Shape 15"/>
          <p:cNvSpPr/>
          <p:nvPr/>
        </p:nvSpPr>
        <p:spPr>
          <a:xfrm>
            <a:off x="5623560" y="2468880"/>
            <a:ext cx="54864" cy="868680"/>
          </a:xfrm>
          <a:prstGeom prst="rect">
            <a:avLst/>
          </a:prstGeom>
          <a:solidFill>
            <a:srgbClr val="C75D3F"/>
          </a:solidFill>
          <a:ln w="12700">
            <a:solidFill>
              <a:srgbClr val="C75D3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9" name="Text 16"/>
          <p:cNvSpPr/>
          <p:nvPr/>
        </p:nvSpPr>
        <p:spPr>
          <a:xfrm>
            <a:off x="5760720" y="25328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label smoothing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760720" y="277977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overconfidence y mejora la calibración para el umbral de confianza.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315200" y="2468880"/>
            <a:ext cx="1600200" cy="868680"/>
          </a:xfrm>
          <a:prstGeom prst="rect">
            <a:avLst/>
          </a:prstGeom>
          <a:solidFill>
            <a:srgbClr val="E7E0D0"/>
          </a:solidFill>
          <a:ln w="6350">
            <a:solidFill>
              <a:srgbClr val="D4CCB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2" name="Shape 19"/>
          <p:cNvSpPr/>
          <p:nvPr/>
        </p:nvSpPr>
        <p:spPr>
          <a:xfrm>
            <a:off x="7315200" y="2468880"/>
            <a:ext cx="54864" cy="868680"/>
          </a:xfrm>
          <a:prstGeom prst="rect">
            <a:avLst/>
          </a:prstGeom>
          <a:solidFill>
            <a:srgbClr val="C75D3F"/>
          </a:solidFill>
          <a:ln w="12700">
            <a:solidFill>
              <a:srgbClr val="C75D3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3" name="Text 20"/>
          <p:cNvSpPr/>
          <p:nvPr/>
        </p:nvSpPr>
        <p:spPr>
          <a:xfrm>
            <a:off x="7452360" y="25328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Cosine LR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52360" y="277977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Decae suavemente · ayuda a estabilizar las últimas épocas (mejor val a la 23).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65760" y="3611880"/>
            <a:ext cx="512064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6" name="Text 23"/>
          <p:cNvSpPr/>
          <p:nvPr/>
        </p:nvSpPr>
        <p:spPr>
          <a:xfrm>
            <a:off x="502920" y="3703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1e-4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50292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backbone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508760" y="3703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1e-3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150876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cabeza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2514600" y="3703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251460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520440" y="3703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1e-4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352044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526280" y="3703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79.4 %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452628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entrenables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623560" y="3611880"/>
            <a:ext cx="3154680" cy="960120"/>
          </a:xfrm>
          <a:prstGeom prst="rect">
            <a:avLst/>
          </a:prstGeom>
          <a:solidFill>
            <a:srgbClr val="C75D3F"/>
          </a:solidFill>
          <a:ln w="12700">
            <a:solidFill>
              <a:srgbClr val="C75D3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7" name="Text 34"/>
          <p:cNvSpPr/>
          <p:nvPr/>
        </p:nvSpPr>
        <p:spPr>
          <a:xfrm>
            <a:off x="5760720" y="3657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F8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época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76072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/ 25</a:t>
            </a:r>
            <a:endParaRPr lang="en-US" sz="2400" dirty="0"/>
          </a:p>
        </p:txBody>
      </p:sp>
      <p:sp>
        <p:nvSpPr>
          <p:cNvPr id="39" name="Text 36"/>
          <p:cNvSpPr/>
          <p:nvPr/>
        </p:nvSpPr>
        <p:spPr>
          <a:xfrm>
            <a:off x="5760720" y="4343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8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guardado · weights/model_v1.pt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 · Fine-tuning · 4.14 M parámetros (3.29 M entrenables)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Nutrition"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</a:rPr>
              <a:t>LOOKUP NUTRICIONAL · DE LA CLASE A LAS CALORÍAS</a:t>
            </a:r>
          </a:p>
        </p:txBody>
      </p:sp>
      <p:sp>
        <p:nvSpPr>
          <p:cNvPr id="4" name="Text 2"/>
          <p:cNvSpPr/>
          <p:nvPr/>
        </p:nvSpPr>
        <p:spPr>
          <a:xfrm>
            <a:off x="7269480" y="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</a:rPr>
              <a:t>03 · NUTRICIÓN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</a:rPr>
              <a:t>De la clase predicha a las calorías estimadas</a:t>
            </a:r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</a:rPr>
              <a:t>Módulo desacoplado del modelo · recibe el nombre de clase predicha y devuelve kcal + macronutrientes</a:t>
            </a:r>
          </a:p>
        </p:txBody>
      </p:sp>
      <p:sp>
        <p:nvSpPr>
          <p:cNvPr id="10" name="PipeBox1"/>
          <p:cNvSpPr/>
          <p:nvPr/>
        </p:nvSpPr>
        <p:spPr>
          <a:xfrm>
            <a:off x="365760" y="1417320"/>
            <a:ext cx="3200400" cy="548640"/>
          </a:xfrm>
          <a:prstGeom prst="rect">
            <a:avLst/>
          </a:prstGeom>
          <a:solidFill>
            <a:srgbClr val="C75D3F"/>
          </a:solidFill>
          <a:ln w="6350">
            <a:solidFill>
              <a:srgbClr val="C75D3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1" name="PipeText1"/>
          <p:cNvSpPr/>
          <p:nvPr/>
        </p:nvSpPr>
        <p:spPr>
          <a:xfrm>
            <a:off x="456120" y="1453896"/>
            <a:ext cx="301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Top-1: "pizza"</a:t>
            </a:r>
          </a:p>
        </p:txBody>
      </p:sp>
      <p:sp>
        <p:nvSpPr>
          <p:cNvPr id="12" name="PipeSub1"/>
          <p:cNvSpPr/>
          <p:nvPr/>
        </p:nvSpPr>
        <p:spPr>
          <a:xfrm>
            <a:off x="456120" y="1728216"/>
            <a:ext cx="301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8F4EC"/>
                </a:solidFill>
                <a:latin typeface="Calibri" pitchFamily="34" charset="0"/>
              </a:rPr>
              <a:t>clase predicha por el modelo</a:t>
            </a:r>
          </a:p>
        </p:txBody>
      </p:sp>
      <p:sp>
        <p:nvSpPr>
          <p:cNvPr id="13" name="Arrow1"/>
          <p:cNvSpPr/>
          <p:nvPr/>
        </p:nvSpPr>
        <p:spPr>
          <a:xfrm>
            <a:off x="1783080" y="1965960"/>
            <a:ext cx="365760" cy="14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5D3F"/>
                </a:solidFill>
              </a:rPr>
              <a:t>▼</a:t>
            </a:r>
          </a:p>
        </p:txBody>
      </p:sp>
      <p:sp>
        <p:nvSpPr>
          <p:cNvPr id="14" name="PipeBox2"/>
          <p:cNvSpPr/>
          <p:nvPr/>
        </p:nvSpPr>
        <p:spPr>
          <a:xfrm>
            <a:off x="365760" y="2113920"/>
            <a:ext cx="3200400" cy="548640"/>
          </a:xfrm>
          <a:prstGeom prst="rect">
            <a:avLst/>
          </a:prstGeom>
          <a:solidFill>
            <a:srgbClr val="E7E0D0"/>
          </a:solidFill>
          <a:ln w="6350">
            <a:solidFill>
              <a:srgbClr val="D4CCB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5" name="PipeText2"/>
          <p:cNvSpPr/>
          <p:nvPr/>
        </p:nvSpPr>
        <p:spPr>
          <a:xfrm>
            <a:off x="456120" y="2150496"/>
            <a:ext cx="301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nutrition_lookup.json</a:t>
            </a:r>
          </a:p>
        </p:txBody>
      </p:sp>
      <p:sp>
        <p:nvSpPr>
          <p:cNvPr id="16" name="PipeSub2"/>
          <p:cNvSpPr/>
          <p:nvPr/>
        </p:nvSpPr>
        <p:spPr>
          <a:xfrm>
            <a:off x="456120" y="2424816"/>
            <a:ext cx="301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</a:rPr>
              <a:t>101 categorías · kcal + macros por 100 g · porción típica</a:t>
            </a:r>
          </a:p>
        </p:txBody>
      </p:sp>
      <p:sp>
        <p:nvSpPr>
          <p:cNvPr id="17" name="Arrow2"/>
          <p:cNvSpPr/>
          <p:nvPr/>
        </p:nvSpPr>
        <p:spPr>
          <a:xfrm>
            <a:off x="1783080" y="2662560"/>
            <a:ext cx="365760" cy="14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5D3F"/>
                </a:solidFill>
              </a:rPr>
              <a:t>▼</a:t>
            </a:r>
          </a:p>
        </p:txBody>
      </p:sp>
      <p:sp>
        <p:nvSpPr>
          <p:cNvPr id="18" name="PipeBox3"/>
          <p:cNvSpPr/>
          <p:nvPr/>
        </p:nvSpPr>
        <p:spPr>
          <a:xfrm>
            <a:off x="365760" y="2810520"/>
            <a:ext cx="3200400" cy="548640"/>
          </a:xfrm>
          <a:prstGeom prst="rect">
            <a:avLst/>
          </a:prstGeom>
          <a:solidFill>
            <a:srgbClr val="E7E0D0"/>
          </a:solidFill>
          <a:ln w="6350">
            <a:solidFill>
              <a:srgbClr val="D4CCB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9" name="PipeText3"/>
          <p:cNvSpPr/>
          <p:nvPr/>
        </p:nvSpPr>
        <p:spPr>
          <a:xfrm>
            <a:off x="456120" y="2847096"/>
            <a:ext cx="301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factor = porción / 100 g</a:t>
            </a:r>
          </a:p>
        </p:txBody>
      </p:sp>
      <p:sp>
        <p:nvSpPr>
          <p:cNvPr id="20" name="PipeSub3"/>
          <p:cNvSpPr/>
          <p:nvPr/>
        </p:nvSpPr>
        <p:spPr>
          <a:xfrm>
            <a:off x="456120" y="3121416"/>
            <a:ext cx="301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</a:rPr>
              <a:t>pizza: 250 g / 100 = 2.5 → cada macro × 2.5</a:t>
            </a:r>
          </a:p>
        </p:txBody>
      </p:sp>
      <p:sp>
        <p:nvSpPr>
          <p:cNvPr id="21" name="Arrow3"/>
          <p:cNvSpPr/>
          <p:nvPr/>
        </p:nvSpPr>
        <p:spPr>
          <a:xfrm>
            <a:off x="1783080" y="3359160"/>
            <a:ext cx="365760" cy="14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5D3F"/>
                </a:solidFill>
              </a:rPr>
              <a:t>▼</a:t>
            </a:r>
          </a:p>
        </p:txBody>
      </p:sp>
      <p:sp>
        <p:nvSpPr>
          <p:cNvPr id="22" name="PipeBox4"/>
          <p:cNvSpPr/>
          <p:nvPr/>
        </p:nvSpPr>
        <p:spPr>
          <a:xfrm>
            <a:off x="365760" y="3507120"/>
            <a:ext cx="3200400" cy="54864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3" name="PipeText4"/>
          <p:cNvSpPr/>
          <p:nvPr/>
        </p:nvSpPr>
        <p:spPr>
          <a:xfrm>
            <a:off x="456120" y="3543696"/>
            <a:ext cx="301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665 kcal · 27.5 g prot · 82.5 g carbs · 25 g grasas</a:t>
            </a:r>
          </a:p>
        </p:txBody>
      </p:sp>
      <p:sp>
        <p:nvSpPr>
          <p:cNvPr id="24" name="PipeSub4"/>
          <p:cNvSpPr/>
          <p:nvPr/>
        </p:nvSpPr>
        <p:spPr>
          <a:xfrm>
            <a:off x="456120" y="3818016"/>
            <a:ext cx="301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C5D6"/>
                </a:solidFill>
                <a:latin typeface="Calibri" pitchFamily="34" charset="0"/>
              </a:rPr>
              <a:t>estimación para una porción típica de pizza (250 g)</a:t>
            </a:r>
          </a:p>
        </p:txBody>
      </p:sp>
      <p:sp>
        <p:nvSpPr>
          <p:cNvPr id="30" name="Card1Bg"/>
          <p:cNvSpPr/>
          <p:nvPr/>
        </p:nvSpPr>
        <p:spPr>
          <a:xfrm>
            <a:off x="3840480" y="1417320"/>
            <a:ext cx="5029200" cy="868680"/>
          </a:xfrm>
          <a:prstGeom prst="rect">
            <a:avLst/>
          </a:prstGeom>
          <a:solidFill>
            <a:srgbClr val="E7E0D0"/>
          </a:solidFill>
          <a:ln w="6350">
            <a:solidFill>
              <a:srgbClr val="D4CCB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1" name="Card1Stripe"/>
          <p:cNvSpPr/>
          <p:nvPr/>
        </p:nvSpPr>
        <p:spPr>
          <a:xfrm>
            <a:off x="3840480" y="1417320"/>
            <a:ext cx="54864" cy="868680"/>
          </a:xfrm>
          <a:prstGeom prst="rect">
            <a:avLst/>
          </a:prstGeom>
          <a:solidFill>
            <a:srgbClr val="C75D3F"/>
          </a:solidFill>
          <a:ln w="12700">
            <a:solidFill>
              <a:srgbClr val="C75D3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2" name="Card1Title"/>
          <p:cNvSpPr/>
          <p:nvPr/>
        </p:nvSpPr>
        <p:spPr>
          <a:xfrm>
            <a:off x="3977640" y="1481328"/>
            <a:ext cx="475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</a:rPr>
              <a:t>Fuente: USDA FoodData Central</a:t>
            </a:r>
          </a:p>
        </p:txBody>
      </p:sp>
      <p:sp>
        <p:nvSpPr>
          <p:cNvPr id="33" name="Card1Body"/>
          <p:cNvSpPr/>
          <p:nvPr/>
        </p:nvSpPr>
        <p:spPr>
          <a:xfrm>
            <a:off x="3977640" y="1728216"/>
            <a:ext cx="475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  <a:latin typeface="Calibri" pitchFamily="34" charset="0"/>
              </a:rPr>
              <a:t>API pública del gobierno de EEUU. 101 consultas automatizadas con scripts/build_nutrition_lookup.py → JSON de una sola lectura.</a:t>
            </a:r>
          </a:p>
        </p:txBody>
      </p:sp>
      <p:sp>
        <p:nvSpPr>
          <p:cNvPr id="34" name="Card2Bg"/>
          <p:cNvSpPr/>
          <p:nvPr/>
        </p:nvSpPr>
        <p:spPr>
          <a:xfrm>
            <a:off x="3840480" y="2377440"/>
            <a:ext cx="5029200" cy="868680"/>
          </a:xfrm>
          <a:prstGeom prst="rect">
            <a:avLst/>
          </a:prstGeom>
          <a:solidFill>
            <a:srgbClr val="E7E0D0"/>
          </a:solidFill>
          <a:ln w="6350">
            <a:solidFill>
              <a:srgbClr val="D4CCB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5" name="Card2Stripe"/>
          <p:cNvSpPr/>
          <p:nvPr/>
        </p:nvSpPr>
        <p:spPr>
          <a:xfrm>
            <a:off x="3840480" y="2377440"/>
            <a:ext cx="54864" cy="868680"/>
          </a:xfrm>
          <a:prstGeom prst="rect">
            <a:avLst/>
          </a:prstGeom>
          <a:solidFill>
            <a:srgbClr val="C75D3F"/>
          </a:solidFill>
          <a:ln w="12700">
            <a:solidFill>
              <a:srgbClr val="C75D3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6" name="Card2Title"/>
          <p:cNvSpPr/>
          <p:nvPr/>
        </p:nvSpPr>
        <p:spPr>
          <a:xfrm>
            <a:off x="3977640" y="2441448"/>
            <a:ext cx="475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</a:rPr>
              <a:t>Porción fija por categoría</a:t>
            </a:r>
          </a:p>
        </p:txBody>
      </p:sp>
      <p:sp>
        <p:nvSpPr>
          <p:cNvPr id="37" name="Card2Body"/>
          <p:cNvSpPr/>
          <p:nvPr/>
        </p:nvSpPr>
        <p:spPr>
          <a:xfrm>
            <a:off x="3977640" y="2688336"/>
            <a:ext cx="475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  <a:latin typeface="Calibri" pitchFamily="34" charset="0"/>
              </a:rPr>
              <a:t>Cada categoría tiene un gramaje típico (pizza=250 g, sushi=180 g). Simplifica el sistema: no necesitamos detectar cuánto hay en el plato.</a:t>
            </a:r>
          </a:p>
        </p:txBody>
      </p:sp>
      <p:sp>
        <p:nvSpPr>
          <p:cNvPr id="38" name="Card3Bg"/>
          <p:cNvSpPr/>
          <p:nvPr/>
        </p:nvSpPr>
        <p:spPr>
          <a:xfrm>
            <a:off x="3840480" y="3337560"/>
            <a:ext cx="5029200" cy="86868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9" name="Card3Title"/>
          <p:cNvSpPr/>
          <p:nvPr/>
        </p:nvSpPr>
        <p:spPr>
          <a:xfrm>
            <a:off x="3977640" y="3401568"/>
            <a:ext cx="475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Limitación principal · mejora futura</a:t>
            </a:r>
          </a:p>
        </p:txBody>
      </p:sp>
      <p:sp>
        <p:nvSpPr>
          <p:cNvPr id="40" name="Card3Body"/>
          <p:cNvSpPr/>
          <p:nvPr/>
        </p:nvSpPr>
        <p:spPr>
          <a:xfrm>
            <a:off x="3977640" y="3648456"/>
            <a:ext cx="475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</a:rPr>
              <a:t>El sistema no ve cuánto hay en el plato. Mejora: segmentación + área </a:t>
            </a:r>
            <a:r>
              <a:rPr lang="en-US" sz="850" dirty="0" err="1">
                <a:solidFill>
                  <a:srgbClr val="B8C5D6"/>
                </a:solidFill>
                <a:latin typeface="Calibri" pitchFamily="34" charset="0"/>
              </a:rPr>
              <a:t>en</a:t>
            </a:r>
            <a:r>
              <a:rPr lang="en-US" sz="850" dirty="0">
                <a:solidFill>
                  <a:srgbClr val="B8C5D6"/>
                </a:solidFill>
                <a:latin typeface="Calibri" pitchFamily="34" charset="0"/>
              </a:rPr>
              <a:t> </a:t>
            </a:r>
            <a:r>
              <a:rPr lang="en-US" sz="850" dirty="0" err="1">
                <a:solidFill>
                  <a:srgbClr val="B8C5D6"/>
                </a:solidFill>
                <a:latin typeface="Calibri" pitchFamily="34" charset="0"/>
              </a:rPr>
              <a:t>píxeles</a:t>
            </a:r>
            <a:endParaRPr lang="en-US" sz="850" dirty="0">
              <a:solidFill>
                <a:srgbClr val="B8C5D6"/>
              </a:solidFill>
              <a:latin typeface="Calibri" pitchFamily="34" charset="0"/>
            </a:endParaRPr>
          </a:p>
        </p:txBody>
      </p:sp>
      <p:sp>
        <p:nvSpPr>
          <p:cNvPr id="50" name="MAPEBox"/>
          <p:cNvSpPr/>
          <p:nvPr/>
        </p:nvSpPr>
        <p:spPr>
          <a:xfrm>
            <a:off x="3840480" y="4297680"/>
            <a:ext cx="5029200" cy="548640"/>
          </a:xfrm>
          <a:prstGeom prst="rect">
            <a:avLst/>
          </a:prstGeom>
          <a:solidFill>
            <a:srgbClr val="C75D3F"/>
          </a:solidFill>
          <a:ln w="6350">
            <a:solidFill>
              <a:srgbClr val="C75D3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51" name="MAPENum"/>
          <p:cNvSpPr/>
          <p:nvPr/>
        </p:nvSpPr>
        <p:spPr>
          <a:xfrm>
            <a:off x="3977640" y="433425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</a:rPr>
              <a:t>10.6 %</a:t>
            </a:r>
          </a:p>
        </p:txBody>
      </p:sp>
      <p:sp>
        <p:nvSpPr>
          <p:cNvPr id="52" name="MAPELabel"/>
          <p:cNvSpPr/>
          <p:nvPr/>
        </p:nvSpPr>
        <p:spPr>
          <a:xfrm>
            <a:off x="5532240" y="4334256"/>
            <a:ext cx="324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error calórico (MAPE) · meta &lt; 20 %</a:t>
            </a:r>
          </a:p>
        </p:txBody>
      </p:sp>
      <p:sp>
        <p:nvSpPr>
          <p:cNvPr id="60" name="Footer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</a:rPr>
              <a:t>src/nutrition.py · data/nutrition_lookup.json · scripts/build_nutrition_lookup.py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SOBRE TEST SET (25 250 IMG)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69480" y="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RESULTADOS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¿Dónde estamos hoy?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7004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670048" cy="64008"/>
          </a:xfrm>
          <a:prstGeom prst="rect">
            <a:avLst/>
          </a:prstGeom>
          <a:solidFill>
            <a:srgbClr val="C75D3F"/>
          </a:solidFill>
          <a:ln w="12700">
            <a:solidFill>
              <a:srgbClr val="C75D3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82.86 %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8470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&gt; 80 %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7004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670048" cy="64008"/>
          </a:xfrm>
          <a:prstGeom prst="rect">
            <a:avLst/>
          </a:prstGeom>
          <a:solidFill>
            <a:srgbClr val="C75D3F"/>
          </a:solidFill>
          <a:ln w="12700">
            <a:solidFill>
              <a:srgbClr val="C75D3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3" name="Text 11"/>
          <p:cNvSpPr/>
          <p:nvPr/>
        </p:nvSpPr>
        <p:spPr>
          <a:xfrm>
            <a:off x="338328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95.83 %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83280" y="1664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accuracy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8470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&gt; 92 %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267004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2670048" cy="64008"/>
          </a:xfrm>
          <a:prstGeom prst="rect">
            <a:avLst/>
          </a:prstGeom>
          <a:solidFill>
            <a:srgbClr val="C75D3F"/>
          </a:solidFill>
          <a:ln w="12700">
            <a:solidFill>
              <a:srgbClr val="C75D3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8" name="Text 16"/>
          <p:cNvSpPr/>
          <p:nvPr/>
        </p:nvSpPr>
        <p:spPr>
          <a:xfrm>
            <a:off x="621792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10.6 %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17920" y="1664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calórico (MAPE)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18470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&lt; 20 %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2240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prueba · imagen externa al dataset (bife con papas y huevo)</a:t>
            </a:r>
            <a:endParaRPr lang="en-US" sz="1100" dirty="0"/>
          </a:p>
        </p:txBody>
      </p:sp>
      <p:pic>
        <p:nvPicPr>
          <p:cNvPr id="22" name="Image 0" descr="/sessions/fervent-exciting-faraday/mnt/outputs/imgs/05_evaluation_c16_o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60320"/>
            <a:ext cx="5120640" cy="20116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623560" y="2560320"/>
            <a:ext cx="3154680" cy="2011680"/>
          </a:xfrm>
          <a:prstGeom prst="rect">
            <a:avLst/>
          </a:prstGeom>
          <a:solidFill>
            <a:srgbClr val="E7E0D0"/>
          </a:solidFill>
          <a:ln w="6350">
            <a:solidFill>
              <a:srgbClr val="D4CCB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4" name="Shape 21"/>
          <p:cNvSpPr/>
          <p:nvPr/>
        </p:nvSpPr>
        <p:spPr>
          <a:xfrm>
            <a:off x="5623560" y="2560320"/>
            <a:ext cx="64008" cy="2011680"/>
          </a:xfrm>
          <a:prstGeom prst="rect">
            <a:avLst/>
          </a:prstGeom>
          <a:solidFill>
            <a:srgbClr val="C75D3F"/>
          </a:solidFill>
          <a:ln w="12700">
            <a:solidFill>
              <a:srgbClr val="C75D3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5" name="Text 22"/>
          <p:cNvSpPr/>
          <p:nvPr/>
        </p:nvSpPr>
        <p:spPr>
          <a:xfrm>
            <a:off x="5779008" y="2633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que vemos hoy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779008" y="2944368"/>
            <a:ext cx="256032" cy="256032"/>
          </a:xfrm>
          <a:prstGeom prst="ellipse">
            <a:avLst/>
          </a:prstGeom>
          <a:solidFill>
            <a:srgbClr val="C75D3F"/>
          </a:solidFill>
          <a:ln w="12700">
            <a:solidFill>
              <a:srgbClr val="C75D3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7" name="Text 24"/>
          <p:cNvSpPr/>
          <p:nvPr/>
        </p:nvSpPr>
        <p:spPr>
          <a:xfrm>
            <a:off x="5779008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108192" y="29260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Confusión entre clases similares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108192" y="3108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ranking todo carne: baby back ribs · steak · pork chop · prime rib. La textura cocida es ambigua.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779008" y="3493008"/>
            <a:ext cx="256032" cy="256032"/>
          </a:xfrm>
          <a:prstGeom prst="ellipse">
            <a:avLst/>
          </a:prstGeom>
          <a:solidFill>
            <a:srgbClr val="C75D3F"/>
          </a:solidFill>
          <a:ln w="12700">
            <a:solidFill>
              <a:srgbClr val="C75D3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1" name="Text 28"/>
          <p:cNvSpPr/>
          <p:nvPr/>
        </p:nvSpPr>
        <p:spPr>
          <a:xfrm>
            <a:off x="5779008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108192" y="34747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clase por imagen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108192" y="3657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«ve» las papas fritas — la cabeza emite un único softmax sobre 101 clases.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5779008" y="4041648"/>
            <a:ext cx="256032" cy="256032"/>
          </a:xfrm>
          <a:prstGeom prst="ellipse">
            <a:avLst/>
          </a:prstGeom>
          <a:solidFill>
            <a:srgbClr val="C75D3F"/>
          </a:solidFill>
          <a:ln w="12700">
            <a:solidFill>
              <a:srgbClr val="C75D3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5" name="Text 32"/>
          <p:cNvSpPr/>
          <p:nvPr/>
        </p:nvSpPr>
        <p:spPr>
          <a:xfrm>
            <a:off x="5779008" y="4041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108192" y="40233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fuera del dataset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108192" y="4206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Generaliza, pero confianza baja (38.8 %). Útil para validar robustez con datos reales.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·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69480" y="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clasificador al detector multi-ingrediente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1 clase por imagen + porción fija.    Meta: detectar cada alimento, segmentar y estimar gramos por área.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7589520" cy="0"/>
          </a:xfrm>
          <a:prstGeom prst="line">
            <a:avLst/>
          </a:prstGeom>
          <a:noFill/>
          <a:ln w="19050">
            <a:solidFill>
              <a:srgbClr val="D4CCBC"/>
            </a:solidFill>
            <a:prstDash val="dash"/>
          </a:ln>
        </p:spPr>
        <p:txBody>
          <a:bodyPr/>
          <a:lstStyle/>
          <a:p>
            <a:endParaRPr lang="en-AR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C75D3F"/>
          </a:solidFill>
          <a:ln w="25400">
            <a:solidFill>
              <a:srgbClr val="F8F4E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-9144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completas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-91440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F1, curva PR · clasificador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23160" y="2103120"/>
            <a:ext cx="457200" cy="457200"/>
          </a:xfrm>
          <a:prstGeom prst="ellipse">
            <a:avLst/>
          </a:prstGeom>
          <a:solidFill>
            <a:srgbClr val="C75D3F"/>
          </a:solidFill>
          <a:ln w="25400">
            <a:solidFill>
              <a:srgbClr val="F8F4E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4" name="Text 12"/>
          <p:cNvSpPr/>
          <p:nvPr/>
        </p:nvSpPr>
        <p:spPr>
          <a:xfrm>
            <a:off x="24231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8308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multi-alimento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→ bounding boxes · EfficientNet por crop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97680" y="2103120"/>
            <a:ext cx="457200" cy="457200"/>
          </a:xfrm>
          <a:prstGeom prst="ellipse">
            <a:avLst/>
          </a:prstGeom>
          <a:solidFill>
            <a:srgbClr val="C75D3F"/>
          </a:solidFill>
          <a:ln w="25400">
            <a:solidFill>
              <a:srgbClr val="F8F4E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9" name="Text 17"/>
          <p:cNvSpPr/>
          <p:nvPr/>
        </p:nvSpPr>
        <p:spPr>
          <a:xfrm>
            <a:off x="4297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con SAM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Máscaras pixel-wise usando los boxes como prompt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103120"/>
            <a:ext cx="457200" cy="457200"/>
          </a:xfrm>
          <a:prstGeom prst="ellipse">
            <a:avLst/>
          </a:prstGeom>
          <a:solidFill>
            <a:srgbClr val="C75D3F"/>
          </a:solidFill>
          <a:ln w="25400">
            <a:solidFill>
              <a:srgbClr val="F8F4E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4" name="Text 22"/>
          <p:cNvSpPr/>
          <p:nvPr/>
        </p:nvSpPr>
        <p:spPr>
          <a:xfrm>
            <a:off x="6172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Porción por área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2120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 como referencia de escala → gramos reales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046720" y="2103120"/>
            <a:ext cx="457200" cy="457200"/>
          </a:xfrm>
          <a:prstGeom prst="ellipse">
            <a:avLst/>
          </a:prstGeom>
          <a:solidFill>
            <a:srgbClr val="C75D3F"/>
          </a:solidFill>
          <a:ln w="25400">
            <a:solidFill>
              <a:srgbClr val="F8F4E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9" name="Text 27"/>
          <p:cNvSpPr/>
          <p:nvPr/>
        </p:nvSpPr>
        <p:spPr>
          <a:xfrm>
            <a:off x="80467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0664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transformer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/ ViT / Grounding DINO open-set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4" name="Text 32"/>
          <p:cNvSpPr/>
          <p:nvPr/>
        </p:nvSpPr>
        <p:spPr>
          <a:xfrm>
            <a:off x="502920" y="4297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Hilo del informe final  </a:t>
            </a:r>
            <a:r>
              <a:rPr lang="en-US" sz="1050" dirty="0">
                <a:solidFill>
                  <a:srgbClr val="F8F4EC"/>
                </a:solidFill>
              </a:rPr>
              <a:t>→  partimos de un clasificador de imagen completa con porción fija, </a:t>
            </a:r>
            <a:r>
              <a:rPr lang="en-US" sz="1050" i="1" dirty="0">
                <a:solidFill>
                  <a:srgbClr val="FFFFFF"/>
                </a:solidFill>
              </a:rPr>
              <a:t>llegamos a un detector multi-ingrediente con estimación de gramos basada en geometría visual.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2342</TotalTime>
  <Words>892</Words>
  <Application>Microsoft Macintosh PowerPoint</Application>
  <PresentationFormat>On-screen Show (16:9)</PresentationFormat>
  <Paragraphs>153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Vision — Avances S2</dc:title>
  <dc:subject>PptxGenJS Presentation</dc:subject>
  <dc:creator>Fede · Nico · Benja</dc:creator>
  <cp:lastModifiedBy>Nicolás Karagozian</cp:lastModifiedBy>
  <cp:revision>4</cp:revision>
  <dcterms:created xsi:type="dcterms:W3CDTF">2026-04-28T22:28:16Z</dcterms:created>
  <dcterms:modified xsi:type="dcterms:W3CDTF">2026-04-30T15:48:44Z</dcterms:modified>
</cp:coreProperties>
</file>